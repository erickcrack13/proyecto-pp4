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2000" y="502920"/>
                </a:moveTo>
                <a:lnTo>
                  <a:pt x="0" y="50292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502920"/>
                </a:lnTo>
                <a:close/>
              </a:path>
            </a:pathLst>
          </a:custGeom>
          <a:solidFill>
            <a:srgbClr val="1E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502919"/>
            <a:ext cx="12192000" cy="561340"/>
          </a:xfrm>
          <a:custGeom>
            <a:avLst/>
            <a:gdLst/>
            <a:ahLst/>
            <a:cxnLst/>
            <a:rect l="l" t="t" r="r" b="b"/>
            <a:pathLst>
              <a:path w="12192000" h="561340">
                <a:moveTo>
                  <a:pt x="12192000" y="560831"/>
                </a:moveTo>
                <a:lnTo>
                  <a:pt x="0" y="560831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560831"/>
                </a:lnTo>
                <a:close/>
              </a:path>
            </a:pathLst>
          </a:custGeom>
          <a:solidFill>
            <a:srgbClr val="2D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1070610"/>
          </a:xfrm>
          <a:custGeom>
            <a:avLst/>
            <a:gdLst/>
            <a:ahLst/>
            <a:cxnLst/>
            <a:rect l="l" t="t" r="r" b="b"/>
            <a:pathLst>
              <a:path w="12192000" h="1070610">
                <a:moveTo>
                  <a:pt x="12192000" y="0"/>
                </a:moveTo>
                <a:lnTo>
                  <a:pt x="12188177" y="0"/>
                </a:lnTo>
                <a:lnTo>
                  <a:pt x="12188177" y="3810"/>
                </a:lnTo>
                <a:lnTo>
                  <a:pt x="12188177" y="497205"/>
                </a:lnTo>
                <a:lnTo>
                  <a:pt x="12188177" y="509905"/>
                </a:lnTo>
                <a:lnTo>
                  <a:pt x="12188177" y="1057910"/>
                </a:lnTo>
                <a:lnTo>
                  <a:pt x="3810" y="1057910"/>
                </a:lnTo>
                <a:lnTo>
                  <a:pt x="3810" y="509905"/>
                </a:lnTo>
                <a:lnTo>
                  <a:pt x="12188177" y="509905"/>
                </a:lnTo>
                <a:lnTo>
                  <a:pt x="12188177" y="497205"/>
                </a:lnTo>
                <a:lnTo>
                  <a:pt x="3810" y="497205"/>
                </a:lnTo>
                <a:lnTo>
                  <a:pt x="3810" y="3810"/>
                </a:lnTo>
                <a:lnTo>
                  <a:pt x="12188177" y="3810"/>
                </a:lnTo>
                <a:lnTo>
                  <a:pt x="12188177" y="0"/>
                </a:lnTo>
                <a:lnTo>
                  <a:pt x="3810" y="0"/>
                </a:lnTo>
                <a:lnTo>
                  <a:pt x="0" y="0"/>
                </a:lnTo>
                <a:lnTo>
                  <a:pt x="0" y="3810"/>
                </a:lnTo>
                <a:lnTo>
                  <a:pt x="0" y="1070610"/>
                </a:lnTo>
                <a:lnTo>
                  <a:pt x="12192000" y="1070610"/>
                </a:lnTo>
                <a:lnTo>
                  <a:pt x="12192000" y="381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270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19674" y="54609"/>
            <a:ext cx="21526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4990" y="1353819"/>
            <a:ext cx="9486900" cy="1855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08209" y="5041900"/>
            <a:ext cx="1888489" cy="124904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29895">
              <a:lnSpc>
                <a:spcPct val="100000"/>
              </a:lnSpc>
              <a:spcBef>
                <a:spcPts val="118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Presentado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por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63525" indent="-250825">
              <a:lnSpc>
                <a:spcPct val="100000"/>
              </a:lnSpc>
              <a:spcBef>
                <a:spcPts val="1080"/>
              </a:spcBef>
              <a:buChar char="•"/>
              <a:tabLst>
                <a:tab pos="263525" algn="l"/>
              </a:tabLst>
            </a:pPr>
            <a:r>
              <a:rPr sz="1800" spc="145" dirty="0">
                <a:latin typeface="Arial MT"/>
                <a:cs typeface="Arial MT"/>
              </a:rPr>
              <a:t>Erick</a:t>
            </a:r>
            <a:r>
              <a:rPr sz="1800" spc="385" dirty="0">
                <a:latin typeface="Arial MT"/>
                <a:cs typeface="Arial MT"/>
              </a:rPr>
              <a:t> </a:t>
            </a:r>
            <a:r>
              <a:rPr sz="1800" spc="150" dirty="0">
                <a:latin typeface="Arial MT"/>
                <a:cs typeface="Arial MT"/>
              </a:rPr>
              <a:t>castillo</a:t>
            </a:r>
            <a:endParaRPr sz="1800">
              <a:latin typeface="Arial MT"/>
              <a:cs typeface="Arial MT"/>
            </a:endParaRPr>
          </a:p>
          <a:p>
            <a:pPr marL="854710">
              <a:lnSpc>
                <a:spcPct val="100000"/>
              </a:lnSpc>
              <a:spcBef>
                <a:spcPts val="1235"/>
              </a:spcBef>
            </a:pPr>
            <a:r>
              <a:rPr sz="1600" spc="-10" dirty="0">
                <a:latin typeface="Arial MT"/>
                <a:cs typeface="Arial MT"/>
              </a:rPr>
              <a:t>28.325.938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" y="2919983"/>
            <a:ext cx="12176760" cy="516890"/>
          </a:xfrm>
          <a:custGeom>
            <a:avLst/>
            <a:gdLst/>
            <a:ahLst/>
            <a:cxnLst/>
            <a:rect l="l" t="t" r="r" b="b"/>
            <a:pathLst>
              <a:path w="12176760" h="516889">
                <a:moveTo>
                  <a:pt x="12176760" y="516636"/>
                </a:moveTo>
                <a:lnTo>
                  <a:pt x="0" y="516636"/>
                </a:lnTo>
                <a:lnTo>
                  <a:pt x="0" y="0"/>
                </a:lnTo>
                <a:lnTo>
                  <a:pt x="12176760" y="0"/>
                </a:lnTo>
                <a:lnTo>
                  <a:pt x="12176760" y="516636"/>
                </a:lnTo>
                <a:close/>
              </a:path>
            </a:pathLst>
          </a:custGeom>
          <a:solidFill>
            <a:srgbClr val="1E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02864" y="2964408"/>
            <a:ext cx="7437755" cy="1383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58140"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PROYECTO</a:t>
            </a:r>
            <a:r>
              <a:rPr sz="2800" spc="-18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FINAL</a:t>
            </a:r>
            <a:endParaRPr sz="2800">
              <a:latin typeface="Verdana" panose="020B0604030504040204"/>
              <a:cs typeface="Verdana" panose="020B0604030504040204"/>
            </a:endParaRPr>
          </a:p>
          <a:p>
            <a:pPr marL="1117600" marR="5080" indent="-1104900">
              <a:lnSpc>
                <a:spcPct val="109000"/>
              </a:lnSpc>
              <a:spcBef>
                <a:spcPts val="2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Desarrollo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un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Sistema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Web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para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la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Gestión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Inventario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y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Venta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Online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Equipos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Cómputadoras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1407" y="283133"/>
            <a:ext cx="4088765" cy="12369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indent="777240">
              <a:lnSpc>
                <a:spcPct val="99000"/>
              </a:lnSpc>
              <a:spcBef>
                <a:spcPts val="140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UNIVERSIDAD</a:t>
            </a:r>
            <a:r>
              <a:rPr sz="2000" dirty="0">
                <a:latin typeface="Calibri" panose="020F0502020204030204"/>
                <a:cs typeface="Calibri" panose="020F0502020204030204"/>
              </a:rPr>
              <a:t> DEL</a:t>
            </a:r>
            <a:r>
              <a:rPr sz="20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ZULIA FACULTAD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EXPERIMENTAL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DE</a:t>
            </a:r>
            <a:r>
              <a:rPr sz="20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CIENCIAS </a:t>
            </a:r>
            <a:r>
              <a:rPr sz="2000" dirty="0">
                <a:latin typeface="Calibri" panose="020F0502020204030204"/>
                <a:cs typeface="Calibri" panose="020F0502020204030204"/>
              </a:rPr>
              <a:t>DIVISIÓN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DE</a:t>
            </a:r>
            <a:r>
              <a:rPr sz="20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PROGRAMAS</a:t>
            </a:r>
            <a:r>
              <a:rPr sz="20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ESPECIALES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9337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LICENCIATURA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EN</a:t>
            </a:r>
            <a:r>
              <a:rPr sz="20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COMPUTACIÓN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8340" y="2211908"/>
            <a:ext cx="61099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Calibri" panose="020F0502020204030204"/>
                <a:cs typeface="Calibri" panose="020F0502020204030204"/>
              </a:rPr>
              <a:t>DESARROLLO</a:t>
            </a:r>
            <a:r>
              <a:rPr sz="4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4400" dirty="0">
                <a:latin typeface="Calibri" panose="020F0502020204030204"/>
                <a:cs typeface="Calibri" panose="020F0502020204030204"/>
              </a:rPr>
              <a:t>DE</a:t>
            </a:r>
            <a:r>
              <a:rPr sz="4400" spc="-250" dirty="0">
                <a:latin typeface="Calibri" panose="020F0502020204030204"/>
                <a:cs typeface="Calibri" panose="020F0502020204030204"/>
              </a:rPr>
              <a:t> </a:t>
            </a:r>
            <a:r>
              <a:rPr sz="4400" spc="-20" dirty="0">
                <a:latin typeface="Calibri" panose="020F0502020204030204"/>
                <a:cs typeface="Calibri" panose="020F0502020204030204"/>
              </a:rPr>
              <a:t>SISTEMAS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248900" y="185927"/>
              <a:ext cx="1376172" cy="1376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243" y="281939"/>
              <a:ext cx="1021080" cy="124663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0110" y="1572513"/>
            <a:ext cx="7731759" cy="4916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78840" indent="-66103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878840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Ciclo</a:t>
            </a:r>
            <a:r>
              <a:rPr sz="32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deVida</a:t>
            </a:r>
            <a:r>
              <a:rPr sz="3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seleccionado</a:t>
            </a:r>
            <a:r>
              <a:rPr sz="3200" spc="1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(resumen)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846455" indent="-64008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846455" algn="l"/>
              </a:tabLst>
            </a:pPr>
            <a:r>
              <a:rPr sz="3200" spc="-25" dirty="0">
                <a:latin typeface="Calibri" panose="020F0502020204030204"/>
                <a:cs typeface="Calibri" panose="020F0502020204030204"/>
              </a:rPr>
              <a:t>Tecnologías</a:t>
            </a:r>
            <a:r>
              <a:rPr sz="3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y</a:t>
            </a:r>
            <a:r>
              <a:rPr sz="3200" spc="23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30" dirty="0">
                <a:latin typeface="Calibri" panose="020F0502020204030204"/>
                <a:cs typeface="Calibri" panose="020F0502020204030204"/>
              </a:rPr>
              <a:t>Herramientas</a:t>
            </a:r>
            <a:r>
              <a:rPr sz="32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Desarrollo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849630" indent="-645795">
              <a:lnSpc>
                <a:spcPct val="100000"/>
              </a:lnSpc>
              <a:buAutoNum type="arabicPeriod"/>
              <a:tabLst>
                <a:tab pos="849630" algn="l"/>
              </a:tabLst>
            </a:pPr>
            <a:r>
              <a:rPr sz="3200" spc="-50" dirty="0">
                <a:latin typeface="Calibri" panose="020F0502020204030204"/>
                <a:cs typeface="Calibri" panose="020F0502020204030204"/>
              </a:rPr>
              <a:t>Diagrama</a:t>
            </a:r>
            <a:r>
              <a:rPr sz="3200" spc="-13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</a:t>
            </a:r>
            <a:r>
              <a:rPr sz="32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Flujo</a:t>
            </a:r>
            <a:r>
              <a:rPr sz="32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</a:t>
            </a:r>
            <a:r>
              <a:rPr sz="32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Datos</a:t>
            </a:r>
            <a:r>
              <a:rPr sz="32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(DFD)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846455" indent="-654050">
              <a:lnSpc>
                <a:spcPts val="3810"/>
              </a:lnSpc>
              <a:spcBef>
                <a:spcPts val="90"/>
              </a:spcBef>
              <a:buAutoNum type="arabicPeriod"/>
              <a:tabLst>
                <a:tab pos="846455" algn="l"/>
              </a:tabLst>
            </a:pPr>
            <a:r>
              <a:rPr sz="3200" spc="-35" dirty="0">
                <a:latin typeface="Calibri" panose="020F0502020204030204"/>
                <a:cs typeface="Calibri" panose="020F0502020204030204"/>
              </a:rPr>
              <a:t>Diccionario</a:t>
            </a:r>
            <a:r>
              <a:rPr sz="3200" spc="-13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</a:t>
            </a:r>
            <a:r>
              <a:rPr sz="320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Datos</a:t>
            </a:r>
            <a:r>
              <a:rPr sz="32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(DFD)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857250" indent="-653415">
              <a:lnSpc>
                <a:spcPts val="3780"/>
              </a:lnSpc>
              <a:buAutoNum type="arabicPeriod"/>
              <a:tabLst>
                <a:tab pos="857250" algn="l"/>
              </a:tabLst>
            </a:pPr>
            <a:r>
              <a:rPr sz="3200" spc="-10" dirty="0">
                <a:latin typeface="Calibri" panose="020F0502020204030204"/>
                <a:cs typeface="Calibri" panose="020F0502020204030204"/>
              </a:rPr>
              <a:t>Diagrama</a:t>
            </a:r>
            <a:r>
              <a:rPr sz="3200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Entidad</a:t>
            </a:r>
            <a:r>
              <a:rPr sz="3200" spc="-1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–</a:t>
            </a:r>
            <a:r>
              <a:rPr sz="32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Relación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858520" indent="-653415">
              <a:lnSpc>
                <a:spcPts val="3815"/>
              </a:lnSpc>
              <a:buAutoNum type="arabicPeriod"/>
              <a:tabLst>
                <a:tab pos="857885" algn="l"/>
              </a:tabLst>
            </a:pPr>
            <a:r>
              <a:rPr sz="3200" spc="-35" dirty="0">
                <a:latin typeface="Calibri" panose="020F0502020204030204"/>
                <a:cs typeface="Calibri" panose="020F0502020204030204"/>
              </a:rPr>
              <a:t>Diccionario</a:t>
            </a:r>
            <a:r>
              <a:rPr sz="3200" spc="-1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</a:t>
            </a:r>
            <a:r>
              <a:rPr sz="32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Datos</a:t>
            </a:r>
            <a:r>
              <a:rPr sz="32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25" dirty="0">
                <a:latin typeface="Calibri" panose="020F0502020204030204"/>
                <a:cs typeface="Calibri" panose="020F0502020204030204"/>
              </a:rPr>
              <a:t>(Diagrama</a:t>
            </a:r>
            <a:r>
              <a:rPr sz="32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E-</a:t>
            </a:r>
            <a:r>
              <a:rPr sz="3200" spc="-25" dirty="0">
                <a:latin typeface="Calibri" panose="020F0502020204030204"/>
                <a:cs typeface="Calibri" panose="020F0502020204030204"/>
              </a:rPr>
              <a:t>R)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864235" indent="-66103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864235" algn="l"/>
              </a:tabLst>
            </a:pPr>
            <a:r>
              <a:rPr sz="3200" spc="-30" dirty="0">
                <a:latin typeface="Calibri" panose="020F0502020204030204"/>
                <a:cs typeface="Calibri" panose="020F0502020204030204"/>
              </a:rPr>
              <a:t>Interfaces</a:t>
            </a:r>
            <a:r>
              <a:rPr sz="32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</a:t>
            </a:r>
            <a:r>
              <a:rPr sz="32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30" dirty="0">
                <a:latin typeface="Calibri" panose="020F0502020204030204"/>
                <a:cs typeface="Calibri" panose="020F0502020204030204"/>
              </a:rPr>
              <a:t>Entrada</a:t>
            </a:r>
            <a:r>
              <a:rPr sz="32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/</a:t>
            </a:r>
            <a:r>
              <a:rPr sz="32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Salida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853440" indent="-653415">
              <a:lnSpc>
                <a:spcPct val="100000"/>
              </a:lnSpc>
              <a:buAutoNum type="arabicPeriod"/>
              <a:tabLst>
                <a:tab pos="853440" algn="l"/>
              </a:tabLst>
            </a:pPr>
            <a:r>
              <a:rPr sz="3200" spc="-40" dirty="0">
                <a:latin typeface="Calibri" panose="020F0502020204030204"/>
                <a:cs typeface="Calibri" panose="020F0502020204030204"/>
              </a:rPr>
              <a:t>Demostración</a:t>
            </a:r>
            <a:r>
              <a:rPr sz="3200" spc="-1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</a:t>
            </a:r>
            <a:r>
              <a:rPr sz="32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Pruebas</a:t>
            </a:r>
            <a:r>
              <a:rPr sz="3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al</a:t>
            </a:r>
            <a:r>
              <a:rPr sz="32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25" dirty="0">
                <a:latin typeface="Calibri" panose="020F0502020204030204"/>
                <a:cs typeface="Calibri" panose="020F0502020204030204"/>
              </a:rPr>
              <a:t>SI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853440" indent="-653415">
              <a:lnSpc>
                <a:spcPct val="100000"/>
              </a:lnSpc>
              <a:buAutoNum type="arabicPeriod"/>
              <a:tabLst>
                <a:tab pos="853440" algn="l"/>
              </a:tabLst>
            </a:pPr>
            <a:r>
              <a:rPr sz="3200" spc="-10" dirty="0">
                <a:latin typeface="Calibri" panose="020F0502020204030204"/>
                <a:cs typeface="Calibri" panose="020F0502020204030204"/>
              </a:rPr>
              <a:t>Plan</a:t>
            </a:r>
            <a:r>
              <a:rPr sz="3200" spc="-1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de</a:t>
            </a:r>
            <a:r>
              <a:rPr sz="32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Mantenimiento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956310" indent="-94361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956310" algn="l"/>
              </a:tabLst>
            </a:pPr>
            <a:r>
              <a:rPr sz="3200" spc="-30" dirty="0">
                <a:latin typeface="Calibri" panose="020F0502020204030204"/>
                <a:cs typeface="Calibri" panose="020F0502020204030204"/>
              </a:rPr>
              <a:t>Personal</a:t>
            </a:r>
            <a:r>
              <a:rPr sz="3200" spc="-13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que</a:t>
            </a:r>
            <a:r>
              <a:rPr sz="3200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participo</a:t>
            </a:r>
            <a:r>
              <a:rPr sz="32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30" dirty="0">
                <a:latin typeface="Calibri" panose="020F0502020204030204"/>
                <a:cs typeface="Calibri" panose="020F0502020204030204"/>
              </a:rPr>
              <a:t>(soporte</a:t>
            </a:r>
            <a:r>
              <a:rPr sz="3200" spc="-14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-</a:t>
            </a:r>
            <a:r>
              <a:rPr sz="32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minuta)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1070610"/>
            <a:chOff x="0" y="0"/>
            <a:chExt cx="12192000" cy="107061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02920"/>
            </a:xfrm>
            <a:custGeom>
              <a:avLst/>
              <a:gdLst/>
              <a:ahLst/>
              <a:cxnLst/>
              <a:rect l="l" t="t" r="r" b="b"/>
              <a:pathLst>
                <a:path w="12192000" h="502920">
                  <a:moveTo>
                    <a:pt x="1219200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50292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502919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12192000" y="560831"/>
                  </a:moveTo>
                  <a:lnTo>
                    <a:pt x="0" y="560831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560831"/>
                  </a:lnTo>
                  <a:close/>
                </a:path>
              </a:pathLst>
            </a:custGeom>
            <a:solidFill>
              <a:srgbClr val="2D7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1070610"/>
            </a:xfrm>
            <a:custGeom>
              <a:avLst/>
              <a:gdLst/>
              <a:ahLst/>
              <a:cxnLst/>
              <a:rect l="l" t="t" r="r" b="b"/>
              <a:pathLst>
                <a:path w="12192000" h="1070610">
                  <a:moveTo>
                    <a:pt x="12192000" y="0"/>
                  </a:moveTo>
                  <a:lnTo>
                    <a:pt x="12188177" y="0"/>
                  </a:lnTo>
                  <a:lnTo>
                    <a:pt x="12188177" y="3810"/>
                  </a:lnTo>
                  <a:lnTo>
                    <a:pt x="12188177" y="497205"/>
                  </a:lnTo>
                  <a:lnTo>
                    <a:pt x="12188177" y="509905"/>
                  </a:lnTo>
                  <a:lnTo>
                    <a:pt x="12188177" y="1057910"/>
                  </a:lnTo>
                  <a:lnTo>
                    <a:pt x="3810" y="1057910"/>
                  </a:lnTo>
                  <a:lnTo>
                    <a:pt x="3810" y="509905"/>
                  </a:lnTo>
                  <a:lnTo>
                    <a:pt x="12188177" y="509905"/>
                  </a:lnTo>
                  <a:lnTo>
                    <a:pt x="12188177" y="497205"/>
                  </a:lnTo>
                  <a:lnTo>
                    <a:pt x="3810" y="497205"/>
                  </a:lnTo>
                  <a:lnTo>
                    <a:pt x="3810" y="3810"/>
                  </a:lnTo>
                  <a:lnTo>
                    <a:pt x="12188177" y="3810"/>
                  </a:lnTo>
                  <a:lnTo>
                    <a:pt x="12188177" y="0"/>
                  </a:lnTo>
                  <a:lnTo>
                    <a:pt x="3810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1070610"/>
                  </a:lnTo>
                  <a:lnTo>
                    <a:pt x="12192000" y="1070610"/>
                  </a:lnTo>
                  <a:lnTo>
                    <a:pt x="12192000" y="381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270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5549265" y="584200"/>
            <a:ext cx="1097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AGENDA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070610"/>
            <a:chOff x="0" y="0"/>
            <a:chExt cx="12192000" cy="107061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502920"/>
            </a:xfrm>
            <a:custGeom>
              <a:avLst/>
              <a:gdLst/>
              <a:ahLst/>
              <a:cxnLst/>
              <a:rect l="l" t="t" r="r" b="b"/>
              <a:pathLst>
                <a:path w="12192000" h="502920">
                  <a:moveTo>
                    <a:pt x="12192000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50292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502919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12192000" y="560831"/>
                  </a:moveTo>
                  <a:lnTo>
                    <a:pt x="0" y="560831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560831"/>
                  </a:lnTo>
                  <a:close/>
                </a:path>
              </a:pathLst>
            </a:custGeom>
            <a:solidFill>
              <a:srgbClr val="2D7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1070610"/>
            </a:xfrm>
            <a:custGeom>
              <a:avLst/>
              <a:gdLst/>
              <a:ahLst/>
              <a:cxnLst/>
              <a:rect l="l" t="t" r="r" b="b"/>
              <a:pathLst>
                <a:path w="12192000" h="1070610">
                  <a:moveTo>
                    <a:pt x="12192000" y="0"/>
                  </a:moveTo>
                  <a:lnTo>
                    <a:pt x="12188177" y="0"/>
                  </a:lnTo>
                  <a:lnTo>
                    <a:pt x="12188177" y="3810"/>
                  </a:lnTo>
                  <a:lnTo>
                    <a:pt x="12188177" y="497205"/>
                  </a:lnTo>
                  <a:lnTo>
                    <a:pt x="12188177" y="509905"/>
                  </a:lnTo>
                  <a:lnTo>
                    <a:pt x="12188177" y="1057910"/>
                  </a:lnTo>
                  <a:lnTo>
                    <a:pt x="3810" y="1057910"/>
                  </a:lnTo>
                  <a:lnTo>
                    <a:pt x="3810" y="509905"/>
                  </a:lnTo>
                  <a:lnTo>
                    <a:pt x="12188177" y="509905"/>
                  </a:lnTo>
                  <a:lnTo>
                    <a:pt x="12188177" y="497205"/>
                  </a:lnTo>
                  <a:lnTo>
                    <a:pt x="3810" y="497205"/>
                  </a:lnTo>
                  <a:lnTo>
                    <a:pt x="3810" y="3810"/>
                  </a:lnTo>
                  <a:lnTo>
                    <a:pt x="12188177" y="3810"/>
                  </a:lnTo>
                  <a:lnTo>
                    <a:pt x="12188177" y="0"/>
                  </a:lnTo>
                  <a:lnTo>
                    <a:pt x="3810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1070610"/>
                  </a:lnTo>
                  <a:lnTo>
                    <a:pt x="12192000" y="1070610"/>
                  </a:lnTo>
                  <a:lnTo>
                    <a:pt x="12192000" y="381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270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14070" y="54609"/>
            <a:ext cx="7666355" cy="3599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599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PROYECTO</a:t>
            </a:r>
            <a:r>
              <a:rPr sz="24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FINAL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632960">
              <a:lnSpc>
                <a:spcPct val="100000"/>
              </a:lnSpc>
              <a:spcBef>
                <a:spcPts val="193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RESUMEN</a:t>
            </a:r>
            <a:r>
              <a:rPr sz="2400" spc="-1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AGIL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 panose="020B0604020202020204"/>
                <a:cs typeface="Arial" panose="020B0604020202020204"/>
              </a:rPr>
              <a:t>Ciclo</a:t>
            </a:r>
            <a:r>
              <a:rPr sz="24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Vida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Ágil: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Un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Resumen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Rápido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ágil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tiene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fases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lineales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rígidas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cascada, </a:t>
            </a:r>
            <a:r>
              <a:rPr sz="2400" dirty="0">
                <a:latin typeface="Arial MT"/>
                <a:cs typeface="Arial MT"/>
              </a:rPr>
              <a:t>sino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conjunto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actividades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repiten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ciclos </a:t>
            </a:r>
            <a:r>
              <a:rPr sz="2400" dirty="0">
                <a:latin typeface="Arial MT"/>
                <a:cs typeface="Arial MT"/>
              </a:rPr>
              <a:t>cortos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(llamados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"sprints"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"iteraciones").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es </a:t>
            </a:r>
            <a:r>
              <a:rPr sz="2400" dirty="0">
                <a:latin typeface="Arial MT"/>
                <a:cs typeface="Arial MT"/>
              </a:rPr>
              <a:t>planificar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poco,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desarrollar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poco,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poco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y </a:t>
            </a:r>
            <a:r>
              <a:rPr sz="2400" dirty="0">
                <a:latin typeface="Arial MT"/>
                <a:cs typeface="Arial MT"/>
              </a:rPr>
              <a:t>entregar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poco,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luego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repetir.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730750" y="583565"/>
            <a:ext cx="265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DIAGRAMA</a:t>
            </a:r>
            <a:r>
              <a:rPr sz="24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FLUJO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5" y="635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Imagen 7" descr="diagrama de flujo 1 y 2-Página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270" y="1676400"/>
            <a:ext cx="8886825" cy="4615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730750" y="583565"/>
            <a:ext cx="265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DIAGRAMA</a:t>
            </a:r>
            <a:r>
              <a:rPr sz="24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FLUJO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5" y="635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Imagen 6" descr="diagrama de flujo 1 y 2-Page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635" y="1295400"/>
            <a:ext cx="7179310" cy="4971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255134" y="583565"/>
            <a:ext cx="439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DICCIONARIO</a:t>
            </a:r>
            <a:r>
              <a:rPr sz="24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DIAGRAMA</a:t>
            </a:r>
            <a:r>
              <a:rPr sz="24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FLUJO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57262" y="1162367"/>
          <a:ext cx="9616440" cy="5609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6905"/>
                <a:gridCol w="3176905"/>
                <a:gridCol w="3176905"/>
              </a:tblGrid>
              <a:tr h="23495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Término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Proceso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2069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Descripción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2069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Ejemplo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Uso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Flujo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2069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server.js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20637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programa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que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se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ejecuta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servidor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y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maneja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toda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lógica,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como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guardar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productos,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procesar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pagos,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etc.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080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navegador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del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cliente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envía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solicitud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server.js.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db.json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129540" indent="2794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Es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archivo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texto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donde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se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guarda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toda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información persistente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del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sistema,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como</a:t>
                      </a:r>
                      <a:r>
                        <a:rPr sz="8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lista</a:t>
                      </a:r>
                      <a:r>
                        <a:rPr sz="8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productos,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tasa</a:t>
                      </a:r>
                      <a:r>
                        <a:rPr sz="8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cambio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y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historial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ventas.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429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servidor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lee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lista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productos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desde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db.json.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erick.html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937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28702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interfaz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principal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que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ven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los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clientes.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Es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página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web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donde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pueden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ver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productos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y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realizar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pago.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841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flujo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del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cliente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comienza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cuando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abre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erick.html.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937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gestion.html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62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interfaz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que</a:t>
                      </a:r>
                      <a:r>
                        <a:rPr sz="8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ve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administrador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para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gestionar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sistema.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62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flujo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del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administrador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comienza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cuando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abre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gestion.html.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62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Tasa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BCV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(rate)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8890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valor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numérico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que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representa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tasa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cambio (probablemente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del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Dólar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Bolívar).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Se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guarda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db.json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y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admin</a:t>
                      </a:r>
                      <a:r>
                        <a:rPr sz="800" b="1" spc="-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puede</a:t>
                      </a:r>
                      <a:r>
                        <a:rPr sz="800" b="1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actualizarlo.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71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6604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administrador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actualiza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Tasa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BCV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través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página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gestión.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667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619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/api/products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10160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"endpoint"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URL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servidor.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cliente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usa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para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pedir</a:t>
                      </a:r>
                      <a:r>
                        <a:rPr sz="800" b="1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lista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productos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y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admin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usa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para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añadir,</a:t>
                      </a:r>
                      <a:r>
                        <a:rPr sz="800" b="1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editar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8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eliminar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productos.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71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23495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página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del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cliente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hace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petición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/api/products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para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mostrar</a:t>
                      </a:r>
                      <a:r>
                        <a:rPr sz="800" b="1" spc="-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inventario.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667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522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/api/checkout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937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19939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endpoint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que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se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encarga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procesar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pago.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Recibe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los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datos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carrito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y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guarda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historial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compras.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841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12954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finalizar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compra,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navegador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envía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los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datos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del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carrito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/api/checkout.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8415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broadcast()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7683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función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especial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tu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server.js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que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envía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una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notificación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todos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usuarios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conectados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tiempo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real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para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que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su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página</a:t>
                      </a:r>
                      <a:r>
                        <a:rPr sz="8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se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actualice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automáticamente</a:t>
                      </a:r>
                      <a:r>
                        <a:rPr sz="8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sin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recargar.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493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48323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Cuando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admin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cambia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precio,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servidor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ejecuta broadcast()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para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notificar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todos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los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clientes.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  <a:tr h="524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jsPDF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7175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Una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librería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JavaScript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que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usas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erick.html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para</a:t>
                      </a:r>
                      <a:r>
                        <a:rPr sz="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crear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 archivo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PDF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partir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los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datos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de</a:t>
                      </a:r>
                      <a:r>
                        <a:rPr sz="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un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pedido.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905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 marR="18542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confirmar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la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compra,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sistema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usa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jsPDF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para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dirty="0">
                          <a:latin typeface="Arial" panose="020B0604020202020204"/>
                          <a:cs typeface="Arial" panose="020B0604020202020204"/>
                        </a:rPr>
                        <a:t>generar</a:t>
                      </a:r>
                      <a:r>
                        <a:rPr sz="800" b="1" spc="-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b="1" spc="-25" dirty="0">
                          <a:latin typeface="Arial" panose="020B0604020202020204"/>
                          <a:cs typeface="Arial" panose="020B0604020202020204"/>
                        </a:rPr>
                        <a:t>el</a:t>
                      </a:r>
                      <a:r>
                        <a:rPr sz="800" b="1" spc="-10" dirty="0">
                          <a:latin typeface="Arial" panose="020B0604020202020204"/>
                          <a:cs typeface="Arial" panose="020B0604020202020204"/>
                        </a:rPr>
                        <a:t> comprobante.</a:t>
                      </a:r>
                      <a:endParaRPr sz="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9050" marB="0">
                    <a:lnL w="9525">
                      <a:solidFill>
                        <a:srgbClr val="6A6A6A"/>
                      </a:solidFill>
                      <a:prstDash val="solid"/>
                    </a:lnL>
                    <a:lnR w="9525">
                      <a:solidFill>
                        <a:srgbClr val="6A6A6A"/>
                      </a:solidFill>
                      <a:prstDash val="solid"/>
                    </a:lnR>
                    <a:lnT w="9525">
                      <a:solidFill>
                        <a:srgbClr val="6A6A6A"/>
                      </a:solidFill>
                      <a:prstDash val="solid"/>
                    </a:lnT>
                    <a:lnB w="9525">
                      <a:solidFill>
                        <a:srgbClr val="6A6A6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034154" y="573404"/>
            <a:ext cx="4143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DIAGRAMA</a:t>
            </a:r>
            <a:r>
              <a:rPr sz="2400" spc="1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ENTIDAD</a:t>
            </a:r>
            <a:r>
              <a:rPr sz="2400" spc="-10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2400" spc="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RELACIÓN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70659" y="1766316"/>
              <a:ext cx="9782556" cy="3695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034154" y="573404"/>
            <a:ext cx="4143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DIAGRAMA</a:t>
            </a:r>
            <a:r>
              <a:rPr sz="2400" spc="1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ENTIDAD</a:t>
            </a:r>
            <a:r>
              <a:rPr sz="2400" spc="-10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2400" spc="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RELACIÓN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13231" y="1328928"/>
              <a:ext cx="10767060" cy="44074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2999104" y="573404"/>
            <a:ext cx="6184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TECNOLOGÍAS</a:t>
            </a:r>
            <a:r>
              <a:rPr sz="2400" spc="-9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400" spc="1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HERRAMIENTAS</a:t>
            </a:r>
            <a:r>
              <a:rPr sz="2400" spc="9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1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DESARROLLO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8060" y="1645792"/>
            <a:ext cx="4638040" cy="27590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46075" indent="-333375">
              <a:lnSpc>
                <a:spcPct val="100000"/>
              </a:lnSpc>
              <a:spcBef>
                <a:spcPts val="295"/>
              </a:spcBef>
              <a:buChar char="•"/>
              <a:tabLst>
                <a:tab pos="346075" algn="l"/>
              </a:tabLst>
            </a:pPr>
            <a:r>
              <a:rPr sz="2800" spc="-10" dirty="0">
                <a:latin typeface="Arial MT"/>
                <a:cs typeface="Arial MT"/>
              </a:rPr>
              <a:t>JavaScript</a:t>
            </a:r>
            <a:endParaRPr sz="2800">
              <a:latin typeface="Arial MT"/>
              <a:cs typeface="Arial MT"/>
            </a:endParaRPr>
          </a:p>
          <a:p>
            <a:pPr marL="423545" indent="-410845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423545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Frameworks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23545" indent="-410845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423545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Frontend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43865" indent="-431165">
              <a:lnSpc>
                <a:spcPct val="100000"/>
              </a:lnSpc>
              <a:spcBef>
                <a:spcPts val="295"/>
              </a:spcBef>
              <a:buChar char="•"/>
              <a:tabLst>
                <a:tab pos="443865" algn="l"/>
              </a:tabLst>
            </a:pPr>
            <a:r>
              <a:rPr sz="2800" spc="-25" dirty="0">
                <a:latin typeface="Arial MT"/>
                <a:cs typeface="Arial MT"/>
              </a:rPr>
              <a:t>SQL</a:t>
            </a:r>
            <a:endParaRPr sz="2800">
              <a:latin typeface="Arial MT"/>
              <a:cs typeface="Arial MT"/>
            </a:endParaRPr>
          </a:p>
          <a:p>
            <a:pPr marL="327025" indent="-314325">
              <a:lnSpc>
                <a:spcPct val="100000"/>
              </a:lnSpc>
              <a:spcBef>
                <a:spcPts val="235"/>
              </a:spcBef>
              <a:buChar char="•"/>
              <a:tabLst>
                <a:tab pos="327025" algn="l"/>
              </a:tabLst>
            </a:pPr>
            <a:r>
              <a:rPr sz="2800" spc="-10" dirty="0">
                <a:latin typeface="Arial MT"/>
                <a:cs typeface="Arial MT"/>
              </a:rPr>
              <a:t>visual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estudio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code</a:t>
            </a:r>
            <a:endParaRPr sz="2800">
              <a:latin typeface="Arial MT"/>
              <a:cs typeface="Arial MT"/>
            </a:endParaRPr>
          </a:p>
          <a:p>
            <a:pPr marL="428625" indent="-415925">
              <a:lnSpc>
                <a:spcPct val="100000"/>
              </a:lnSpc>
              <a:spcBef>
                <a:spcPts val="235"/>
              </a:spcBef>
              <a:buChar char="•"/>
              <a:tabLst>
                <a:tab pos="428625" algn="l"/>
              </a:tabLst>
            </a:pPr>
            <a:r>
              <a:rPr sz="2800" dirty="0">
                <a:latin typeface="Arial MT"/>
                <a:cs typeface="Arial MT"/>
              </a:rPr>
              <a:t>github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videos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youtube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3949065" y="584200"/>
            <a:ext cx="431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INTERFACES</a:t>
            </a:r>
            <a:r>
              <a:rPr sz="2400" spc="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ENTRADA</a:t>
            </a:r>
            <a:r>
              <a:rPr sz="2400" spc="-1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2400" spc="-1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SALIDA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34075" y="1086446"/>
            <a:ext cx="42545" cy="5772150"/>
          </a:xfrm>
          <a:custGeom>
            <a:avLst/>
            <a:gdLst/>
            <a:ahLst/>
            <a:cxnLst/>
            <a:rect l="l" t="t" r="r" b="b"/>
            <a:pathLst>
              <a:path w="42545" h="5772150">
                <a:moveTo>
                  <a:pt x="42545" y="5771514"/>
                </a:moveTo>
                <a:lnTo>
                  <a:pt x="29845" y="5771591"/>
                </a:lnTo>
                <a:lnTo>
                  <a:pt x="0" y="76"/>
                </a:lnTo>
                <a:lnTo>
                  <a:pt x="12700" y="0"/>
                </a:lnTo>
                <a:lnTo>
                  <a:pt x="42545" y="5771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9875" y="1341119"/>
            <a:ext cx="27190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Formularios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Datos: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875" y="2255519"/>
            <a:ext cx="44240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Login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administradores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clientes.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875" y="3169919"/>
            <a:ext cx="35782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Registro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nuevos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usuarios.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875" y="3932682"/>
            <a:ext cx="43840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Formulario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para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agregar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modificar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productos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en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el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inventario (gestion.html).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3484" y="1214119"/>
            <a:ext cx="31222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Arial" panose="020B0604020202020204"/>
                <a:cs typeface="Arial" panose="020B0604020202020204"/>
              </a:rPr>
              <a:t>Visualización</a:t>
            </a:r>
            <a:r>
              <a:rPr sz="20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en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Pantalla: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93484" y="1823719"/>
            <a:ext cx="460756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Catálogo</a:t>
            </a:r>
            <a:r>
              <a:rPr sz="20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productos</a:t>
            </a:r>
            <a:r>
              <a:rPr sz="20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por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categorías (index.html).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3484" y="2738119"/>
            <a:ext cx="5110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Vista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detallada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del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carrito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compras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con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totales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(erick.html).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3484" y="3652520"/>
            <a:ext cx="446151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Arial" panose="020B0604020202020204"/>
                <a:cs typeface="Arial" panose="020B0604020202020204"/>
              </a:rPr>
              <a:t>Tabla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completa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del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inventario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para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el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administrador.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 panose="020B0604020202020204"/>
                <a:cs typeface="Arial" panose="020B0604020202020204"/>
              </a:rPr>
              <a:t>Generación</a:t>
            </a:r>
            <a:r>
              <a:rPr sz="20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Archivos: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93484" y="4871720"/>
            <a:ext cx="473329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Exportación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del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detalle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del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pedido</a:t>
            </a:r>
            <a:r>
              <a:rPr sz="20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un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archivo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PDF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para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el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cliente.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3949065" y="584200"/>
            <a:ext cx="431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INTERFACES</a:t>
            </a:r>
            <a:r>
              <a:rPr sz="2400" spc="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ENTRADA</a:t>
            </a:r>
            <a:r>
              <a:rPr sz="2400" spc="-1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2400" spc="-1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SALIDA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34075" y="1086446"/>
            <a:ext cx="42545" cy="5772150"/>
          </a:xfrm>
          <a:custGeom>
            <a:avLst/>
            <a:gdLst/>
            <a:ahLst/>
            <a:cxnLst/>
            <a:rect l="l" t="t" r="r" b="b"/>
            <a:pathLst>
              <a:path w="42545" h="5772150">
                <a:moveTo>
                  <a:pt x="42545" y="5771514"/>
                </a:moveTo>
                <a:lnTo>
                  <a:pt x="29845" y="5771591"/>
                </a:lnTo>
                <a:lnTo>
                  <a:pt x="0" y="76"/>
                </a:lnTo>
                <a:lnTo>
                  <a:pt x="12700" y="0"/>
                </a:lnTo>
                <a:lnTo>
                  <a:pt x="42545" y="5771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9875" y="1652904"/>
            <a:ext cx="2286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 panose="020B0604020202020204"/>
                <a:cs typeface="Arial" panose="020B0604020202020204"/>
              </a:rPr>
              <a:t>Acciones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y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Botones: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875" y="2201545"/>
            <a:ext cx="4013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Añadir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carrito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compras. </a:t>
            </a:r>
            <a:r>
              <a:rPr sz="1800" dirty="0">
                <a:latin typeface="Arial MT"/>
                <a:cs typeface="Arial MT"/>
              </a:rPr>
              <a:t>Confirmar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finalizar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compra.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875" y="3024504"/>
            <a:ext cx="4229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Editar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eliminar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productos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inventario.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875" y="3847465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usuario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escribe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preguntas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lenguaje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natural </a:t>
            </a:r>
            <a:r>
              <a:rPr sz="1800" dirty="0">
                <a:latin typeface="Arial MT"/>
                <a:cs typeface="Arial MT"/>
              </a:rPr>
              <a:t>(ej: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"¿qué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computadoras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tienes?").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52234" y="1503680"/>
            <a:ext cx="30149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Respuestas</a:t>
            </a:r>
            <a:r>
              <a:rPr sz="20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del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Sistema: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2234" y="2266442"/>
            <a:ext cx="412940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Respuestas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texto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imágenes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del </a:t>
            </a:r>
            <a:r>
              <a:rPr sz="2000" dirty="0">
                <a:latin typeface="Arial MT"/>
                <a:cs typeface="Arial MT"/>
              </a:rPr>
              <a:t>Asistente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Virtual.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52234" y="3638041"/>
            <a:ext cx="48418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Alertas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mensajes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confirmación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(ej: </a:t>
            </a:r>
            <a:r>
              <a:rPr sz="2000" dirty="0">
                <a:latin typeface="Arial MT"/>
                <a:cs typeface="Arial MT"/>
              </a:rPr>
              <a:t>"Producto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agregado",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"Compra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realizada").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3481704" y="573404"/>
            <a:ext cx="524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7620" algn="l"/>
              </a:tabLst>
            </a:pP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PRUEBAS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	DE</a:t>
            </a:r>
            <a:r>
              <a:rPr sz="2400" spc="-10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SISTEMAS</a:t>
            </a:r>
            <a:r>
              <a:rPr sz="2400" spc="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INFORMACIÓN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34075" y="1086446"/>
            <a:ext cx="42545" cy="5772150"/>
          </a:xfrm>
          <a:custGeom>
            <a:avLst/>
            <a:gdLst/>
            <a:ahLst/>
            <a:cxnLst/>
            <a:rect l="l" t="t" r="r" b="b"/>
            <a:pathLst>
              <a:path w="42545" h="5772150">
                <a:moveTo>
                  <a:pt x="42545" y="5771514"/>
                </a:moveTo>
                <a:lnTo>
                  <a:pt x="29845" y="5771591"/>
                </a:lnTo>
                <a:lnTo>
                  <a:pt x="0" y="76"/>
                </a:lnTo>
                <a:lnTo>
                  <a:pt x="12700" y="0"/>
                </a:lnTo>
                <a:lnTo>
                  <a:pt x="42545" y="5771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3995" y="1481454"/>
            <a:ext cx="2035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indent="-88900">
              <a:lnSpc>
                <a:spcPct val="100000"/>
              </a:lnSpc>
              <a:spcBef>
                <a:spcPts val="100"/>
              </a:spcBef>
              <a:buSzPct val="94000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Casos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Prueba: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995" y="2030095"/>
            <a:ext cx="44958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165" indent="-8255">
              <a:lnSpc>
                <a:spcPct val="100000"/>
              </a:lnSpc>
              <a:spcBef>
                <a:spcPts val="100"/>
              </a:spcBef>
              <a:buSzPct val="33000"/>
              <a:buFont typeface="Arial MT"/>
              <a:buChar char="◦"/>
              <a:tabLst>
                <a:tab pos="93345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	</a:t>
            </a:r>
            <a:r>
              <a:rPr sz="1800" b="1" dirty="0">
                <a:latin typeface="Arial" panose="020B0604020202020204"/>
                <a:cs typeface="Arial" panose="020B0604020202020204"/>
              </a:rPr>
              <a:t>Flujo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Compra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Completo: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Simular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un </a:t>
            </a:r>
            <a:r>
              <a:rPr sz="1800" dirty="0">
                <a:latin typeface="Arial MT"/>
                <a:cs typeface="Arial MT"/>
              </a:rPr>
              <a:t>cliente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añade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producto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desde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index.html,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carrito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(erick.html),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y </a:t>
            </a:r>
            <a:r>
              <a:rPr sz="1800" dirty="0">
                <a:latin typeface="Arial MT"/>
                <a:cs typeface="Arial MT"/>
              </a:rPr>
              <a:t>finaliza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pago.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95" y="3554095"/>
            <a:ext cx="44964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8255">
              <a:lnSpc>
                <a:spcPct val="100000"/>
              </a:lnSpc>
              <a:spcBef>
                <a:spcPts val="100"/>
              </a:spcBef>
              <a:buSzPct val="33000"/>
              <a:buFont typeface="Arial MT"/>
              <a:buChar char="◦"/>
              <a:tabLst>
                <a:tab pos="93345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	</a:t>
            </a:r>
            <a:r>
              <a:rPr sz="1800" b="1" dirty="0">
                <a:latin typeface="Arial" panose="020B0604020202020204"/>
                <a:cs typeface="Arial" panose="020B0604020202020204"/>
              </a:rPr>
              <a:t>Gestión</a:t>
            </a:r>
            <a:r>
              <a:rPr sz="18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Inventario: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Probar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un </a:t>
            </a:r>
            <a:r>
              <a:rPr sz="1800" dirty="0">
                <a:latin typeface="Arial MT"/>
                <a:cs typeface="Arial MT"/>
              </a:rPr>
              <a:t>administrador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agregar,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editar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y </a:t>
            </a:r>
            <a:r>
              <a:rPr sz="1800" dirty="0">
                <a:latin typeface="Arial MT"/>
                <a:cs typeface="Arial MT"/>
              </a:rPr>
              <a:t>eliminar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gestion.html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que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cambios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reflejen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correctamente.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995" y="5078095"/>
            <a:ext cx="4495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8255">
              <a:lnSpc>
                <a:spcPct val="100000"/>
              </a:lnSpc>
              <a:spcBef>
                <a:spcPts val="100"/>
              </a:spcBef>
              <a:buSzPct val="33000"/>
              <a:buFont typeface="Arial MT"/>
              <a:buChar char="◦"/>
              <a:tabLst>
                <a:tab pos="93345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	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Cálculos</a:t>
            </a:r>
            <a:r>
              <a:rPr sz="18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del</a:t>
            </a:r>
            <a:r>
              <a:rPr sz="18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Carrito: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Confirmar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los </a:t>
            </a:r>
            <a:r>
              <a:rPr sz="1800" dirty="0">
                <a:latin typeface="Arial MT"/>
                <a:cs typeface="Arial MT"/>
              </a:rPr>
              <a:t>subtotales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totales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Dólares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Bolívares)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calculen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errores.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7304" y="1681479"/>
            <a:ext cx="39884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9525" algn="just">
              <a:lnSpc>
                <a:spcPct val="100000"/>
              </a:lnSpc>
              <a:spcBef>
                <a:spcPts val="100"/>
              </a:spcBef>
              <a:buSzPct val="94000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	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Objetivo:</a:t>
            </a:r>
            <a:r>
              <a:rPr sz="18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Asegurar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diferentes </a:t>
            </a:r>
            <a:r>
              <a:rPr sz="1800" dirty="0">
                <a:latin typeface="Arial MT"/>
                <a:cs typeface="Arial MT"/>
              </a:rPr>
              <a:t>partes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sistema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comuniquen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bien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sí.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7304" y="2778759"/>
            <a:ext cx="2035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indent="-88900">
              <a:lnSpc>
                <a:spcPct val="100000"/>
              </a:lnSpc>
              <a:spcBef>
                <a:spcPts val="100"/>
              </a:spcBef>
              <a:buSzPct val="94000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Casos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Prueba: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7304" y="3327400"/>
            <a:ext cx="42214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8255">
              <a:lnSpc>
                <a:spcPct val="100000"/>
              </a:lnSpc>
              <a:spcBef>
                <a:spcPts val="100"/>
              </a:spcBef>
              <a:buSzPct val="33000"/>
              <a:buFont typeface="Arial MT"/>
              <a:buChar char="◦"/>
              <a:tabLst>
                <a:tab pos="93345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	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Del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Catálogo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al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Carrito: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 MT"/>
                <a:cs typeface="Arial MT"/>
              </a:rPr>
              <a:t>Verificar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al </a:t>
            </a:r>
            <a:r>
              <a:rPr sz="1800" dirty="0">
                <a:latin typeface="Arial MT"/>
                <a:cs typeface="Arial MT"/>
              </a:rPr>
              <a:t>hacer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clic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"Añadir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Carrito",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el </a:t>
            </a:r>
            <a:r>
              <a:rPr sz="1800" dirty="0">
                <a:latin typeface="Arial MT"/>
                <a:cs typeface="Arial MT"/>
              </a:rPr>
              <a:t>producto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correcto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aparezca </a:t>
            </a:r>
            <a:r>
              <a:rPr sz="1800" dirty="0">
                <a:latin typeface="Arial MT"/>
                <a:cs typeface="Arial MT"/>
              </a:rPr>
              <a:t>inmediatamente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página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carrito.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7304" y="4699000"/>
            <a:ext cx="419163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 indent="-88900">
              <a:lnSpc>
                <a:spcPct val="100000"/>
              </a:lnSpc>
              <a:spcBef>
                <a:spcPts val="100"/>
              </a:spcBef>
              <a:buSzPct val="33000"/>
              <a:buFont typeface="Arial MT"/>
              <a:buChar char="◦"/>
              <a:tabLst>
                <a:tab pos="93345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la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Base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Datos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</a:t>
            </a:r>
            <a:r>
              <a:rPr sz="18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la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latin typeface="Arial" panose="020B0604020202020204"/>
                <a:cs typeface="Arial" panose="020B0604020202020204"/>
              </a:rPr>
              <a:t>Pantalla: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Confirmar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productos </a:t>
            </a:r>
            <a:r>
              <a:rPr sz="1800" dirty="0">
                <a:latin typeface="Arial MT"/>
                <a:cs typeface="Arial MT"/>
              </a:rPr>
              <a:t>guardados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db.json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muestren </a:t>
            </a:r>
            <a:r>
              <a:rPr sz="1800" dirty="0">
                <a:latin typeface="Arial MT"/>
                <a:cs typeface="Arial MT"/>
              </a:rPr>
              <a:t>correctamente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página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inicio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en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panel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administración.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3481704" y="573404"/>
            <a:ext cx="524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7620" algn="l"/>
              </a:tabLst>
            </a:pP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PRUEBAS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	DE</a:t>
            </a:r>
            <a:r>
              <a:rPr sz="2400" spc="-10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SISTEMAS</a:t>
            </a:r>
            <a:r>
              <a:rPr sz="2400" spc="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INFORMACIÓN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34075" y="1086446"/>
            <a:ext cx="42545" cy="5772150"/>
          </a:xfrm>
          <a:custGeom>
            <a:avLst/>
            <a:gdLst/>
            <a:ahLst/>
            <a:cxnLst/>
            <a:rect l="l" t="t" r="r" b="b"/>
            <a:pathLst>
              <a:path w="42545" h="5772150">
                <a:moveTo>
                  <a:pt x="42545" y="5771514"/>
                </a:moveTo>
                <a:lnTo>
                  <a:pt x="29845" y="5771591"/>
                </a:lnTo>
                <a:lnTo>
                  <a:pt x="0" y="76"/>
                </a:lnTo>
                <a:lnTo>
                  <a:pt x="12700" y="0"/>
                </a:lnTo>
                <a:lnTo>
                  <a:pt x="42545" y="5771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2895" y="1941512"/>
            <a:ext cx="46418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8890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dirty="0">
                <a:latin typeface="Arial" panose="020B0604020202020204"/>
                <a:cs typeface="Arial" panose="020B0604020202020204"/>
              </a:rPr>
              <a:t>Objetivo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Medir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velocidad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eficiencia </a:t>
            </a:r>
            <a:r>
              <a:rPr sz="2000" dirty="0">
                <a:latin typeface="Arial MT"/>
                <a:cs typeface="Arial MT"/>
              </a:rPr>
              <a:t>del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sistema.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895" y="2855912"/>
            <a:ext cx="424243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indent="-97155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b="1" dirty="0">
                <a:latin typeface="Arial" panose="020B0604020202020204"/>
                <a:cs typeface="Arial" panose="020B0604020202020204"/>
              </a:rPr>
              <a:t>Caso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Prueba: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080" indent="-12065">
              <a:lnSpc>
                <a:spcPct val="100000"/>
              </a:lnSpc>
              <a:buSzPct val="35000"/>
              <a:buChar char="◦"/>
              <a:tabLst>
                <a:tab pos="10223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¿Cuánto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tiempo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tarda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cargar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el </a:t>
            </a:r>
            <a:r>
              <a:rPr sz="2000" dirty="0">
                <a:latin typeface="Arial MT"/>
                <a:cs typeface="Arial MT"/>
              </a:rPr>
              <a:t>catálogo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productos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index.html?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895" y="4227512"/>
            <a:ext cx="45307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065">
              <a:lnSpc>
                <a:spcPct val="100000"/>
              </a:lnSpc>
              <a:spcBef>
                <a:spcPts val="105"/>
              </a:spcBef>
              <a:buSzPct val="35000"/>
              <a:buChar char="◦"/>
              <a:tabLst>
                <a:tab pos="10223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¿El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sistema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mantiene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rápido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incluso </a:t>
            </a:r>
            <a:r>
              <a:rPr sz="2000" dirty="0">
                <a:latin typeface="Arial MT"/>
                <a:cs typeface="Arial MT"/>
              </a:rPr>
              <a:t>con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productos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inventario?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9195" y="1941512"/>
            <a:ext cx="41992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8890">
              <a:lnSpc>
                <a:spcPct val="100000"/>
              </a:lnSpc>
              <a:spcBef>
                <a:spcPts val="105"/>
              </a:spcBef>
              <a:buSzPct val="95000"/>
              <a:buChar char="•"/>
              <a:tabLst>
                <a:tab pos="10096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Objetivo: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Asegurar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sistema </a:t>
            </a:r>
            <a:r>
              <a:rPr sz="2000" dirty="0">
                <a:latin typeface="Arial MT"/>
                <a:cs typeface="Arial MT"/>
              </a:rPr>
              <a:t>funcione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diferentes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entornos.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9195" y="2855912"/>
            <a:ext cx="21031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indent="-97155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b="1" dirty="0">
                <a:latin typeface="Arial" panose="020B0604020202020204"/>
                <a:cs typeface="Arial" panose="020B0604020202020204"/>
              </a:rPr>
              <a:t>Caso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Prueba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9195" y="3465512"/>
            <a:ext cx="474916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065" algn="just">
              <a:lnSpc>
                <a:spcPct val="100000"/>
              </a:lnSpc>
              <a:spcBef>
                <a:spcPts val="105"/>
              </a:spcBef>
              <a:buSzPct val="35000"/>
              <a:buFont typeface="Arial MT"/>
              <a:buChar char="◦"/>
              <a:tabLst>
                <a:tab pos="102235" algn="l"/>
              </a:tabLst>
            </a:pP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dirty="0">
                <a:latin typeface="Arial" panose="020B0604020202020204"/>
                <a:cs typeface="Arial" panose="020B0604020202020204"/>
              </a:rPr>
              <a:t>Navegadores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Verificar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página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se </a:t>
            </a:r>
            <a:r>
              <a:rPr sz="2000" dirty="0">
                <a:latin typeface="Arial MT"/>
                <a:cs typeface="Arial MT"/>
              </a:rPr>
              <a:t>vea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funcione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correctamente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Chrome, </a:t>
            </a:r>
            <a:r>
              <a:rPr sz="2000" dirty="0">
                <a:latin typeface="Arial MT"/>
                <a:cs typeface="Arial MT"/>
              </a:rPr>
              <a:t>Firefox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Safari.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9195" y="4684712"/>
            <a:ext cx="46926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065">
              <a:lnSpc>
                <a:spcPct val="100000"/>
              </a:lnSpc>
              <a:spcBef>
                <a:spcPts val="105"/>
              </a:spcBef>
              <a:buSzPct val="35000"/>
              <a:buFont typeface="Arial MT"/>
              <a:buChar char="◦"/>
              <a:tabLst>
                <a:tab pos="102235" algn="l"/>
              </a:tabLst>
            </a:pP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Dispositivos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Móviles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el </a:t>
            </a:r>
            <a:r>
              <a:rPr sz="2000" dirty="0">
                <a:latin typeface="Arial MT"/>
                <a:cs typeface="Arial MT"/>
              </a:rPr>
              <a:t>diseño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adapte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(responsive)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fácil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usar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teléfono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celular,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mostrando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menú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navegación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correctamente.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2895" y="1313180"/>
            <a:ext cx="31730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20" dirty="0">
                <a:latin typeface="Arial" panose="020B0604020202020204"/>
                <a:cs typeface="Arial" panose="020B0604020202020204"/>
              </a:rPr>
              <a:t>PRUEBA</a:t>
            </a:r>
            <a:r>
              <a:rPr sz="2000" b="1" i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i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-10" dirty="0">
                <a:latin typeface="Arial" panose="020B0604020202020204"/>
                <a:cs typeface="Arial" panose="020B0604020202020204"/>
              </a:rPr>
              <a:t>REDIMIENTO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4740" y="1313180"/>
            <a:ext cx="37465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20" dirty="0">
                <a:latin typeface="Arial" panose="020B0604020202020204"/>
                <a:cs typeface="Arial" panose="020B0604020202020204"/>
              </a:rPr>
              <a:t>PRUEBA</a:t>
            </a:r>
            <a:r>
              <a:rPr sz="2000" b="1" i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dirty="0">
                <a:latin typeface="Arial" panose="020B0604020202020204"/>
                <a:cs typeface="Arial" panose="020B0604020202020204"/>
              </a:rPr>
              <a:t>DE</a:t>
            </a:r>
            <a:r>
              <a:rPr sz="2000" b="1" i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-10" dirty="0">
                <a:latin typeface="Arial" panose="020B0604020202020204"/>
                <a:cs typeface="Arial" panose="020B0604020202020204"/>
              </a:rPr>
              <a:t>COMPATIBILIDAD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423409" y="583565"/>
            <a:ext cx="3366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PLAN</a:t>
            </a:r>
            <a:r>
              <a:rPr sz="240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MANTENIMIENTO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809" y="1263967"/>
            <a:ext cx="4509770" cy="1339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 panose="020B0604020202020204"/>
                <a:cs typeface="Arial" panose="020B0604020202020204"/>
              </a:rPr>
              <a:t>Mantenimiento</a:t>
            </a:r>
            <a:r>
              <a:rPr sz="2200" b="1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latin typeface="Arial" panose="020B0604020202020204"/>
                <a:cs typeface="Arial" panose="020B0604020202020204"/>
              </a:rPr>
              <a:t>Correctivo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Arial MT"/>
                <a:cs typeface="Arial MT"/>
              </a:rPr>
              <a:t>El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mantenimiento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correctivo</a:t>
            </a:r>
            <a:r>
              <a:rPr sz="16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realiza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para </a:t>
            </a:r>
            <a:r>
              <a:rPr sz="1600" dirty="0">
                <a:latin typeface="Arial MT"/>
                <a:cs typeface="Arial MT"/>
              </a:rPr>
              <a:t>solucionar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defectos</a:t>
            </a:r>
            <a:r>
              <a:rPr sz="16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o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errores</a:t>
            </a:r>
            <a:r>
              <a:rPr sz="16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que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han </a:t>
            </a:r>
            <a:r>
              <a:rPr sz="1600" dirty="0">
                <a:latin typeface="Arial MT"/>
                <a:cs typeface="Arial MT"/>
              </a:rPr>
              <a:t>detectado.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"correcciones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errores"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(bug </a:t>
            </a:r>
            <a:r>
              <a:rPr sz="1600" spc="-10" dirty="0">
                <a:latin typeface="Arial MT"/>
                <a:cs typeface="Arial MT"/>
              </a:rPr>
              <a:t>fixes).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809" y="2822257"/>
            <a:ext cx="462534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 panose="020B0604020202020204"/>
                <a:cs typeface="Arial" panose="020B0604020202020204"/>
              </a:rPr>
              <a:t>Errores</a:t>
            </a:r>
            <a:r>
              <a:rPr sz="16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en</a:t>
            </a:r>
            <a:r>
              <a:rPr sz="16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el</a:t>
            </a:r>
            <a:r>
              <a:rPr sz="16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chat:</a:t>
            </a:r>
            <a:r>
              <a:rPr sz="16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Si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respuesta </a:t>
            </a:r>
            <a:r>
              <a:rPr sz="1600" dirty="0">
                <a:latin typeface="Arial MT"/>
                <a:cs typeface="Arial MT"/>
              </a:rPr>
              <a:t>incorrecta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una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pregunta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específica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(precio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de </a:t>
            </a:r>
            <a:r>
              <a:rPr sz="1600" dirty="0">
                <a:latin typeface="Arial MT"/>
                <a:cs typeface="Arial MT"/>
              </a:rPr>
              <a:t>monitor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devuelve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error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precio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equivocado).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809" y="3797617"/>
            <a:ext cx="481203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 panose="020B0604020202020204"/>
                <a:cs typeface="Arial" panose="020B0604020202020204"/>
              </a:rPr>
              <a:t>Problemas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diseño:</a:t>
            </a:r>
            <a:r>
              <a:rPr sz="16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Si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elemento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"roto"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o </a:t>
            </a:r>
            <a:r>
              <a:rPr sz="1600" dirty="0">
                <a:latin typeface="Arial MT"/>
                <a:cs typeface="Arial MT"/>
              </a:rPr>
              <a:t>desalineado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navegador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dispositivo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particular </a:t>
            </a:r>
            <a:r>
              <a:rPr sz="1600" dirty="0">
                <a:latin typeface="Arial MT"/>
                <a:cs typeface="Arial MT"/>
              </a:rPr>
              <a:t>(ej.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botón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contenedor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móviles).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809" y="4772977"/>
            <a:ext cx="4735195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 panose="020B0604020202020204"/>
                <a:cs typeface="Arial" panose="020B0604020202020204"/>
              </a:rPr>
              <a:t>Errores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6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enlaces: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Si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enlace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contacto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no </a:t>
            </a:r>
            <a:r>
              <a:rPr sz="1600" dirty="0">
                <a:latin typeface="Arial MT"/>
                <a:cs typeface="Arial MT"/>
              </a:rPr>
              <a:t>funciona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botón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"Inicio"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lleva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página correcta.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4570" y="1264285"/>
            <a:ext cx="4907915" cy="1339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Arial" panose="020B0604020202020204"/>
                <a:cs typeface="Arial" panose="020B0604020202020204"/>
              </a:rPr>
              <a:t>Mantenimiento</a:t>
            </a:r>
            <a:r>
              <a:rPr sz="22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latin typeface="Arial" panose="020B0604020202020204"/>
                <a:cs typeface="Arial" panose="020B0604020202020204"/>
              </a:rPr>
              <a:t>Adaptativo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Arial MT"/>
                <a:cs typeface="Arial MT"/>
              </a:rPr>
              <a:t>El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mantenimiento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adaptativo</a:t>
            </a:r>
            <a:r>
              <a:rPr sz="16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realiza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el </a:t>
            </a:r>
            <a:r>
              <a:rPr sz="1600" dirty="0">
                <a:latin typeface="Arial MT"/>
                <a:cs typeface="Arial MT"/>
              </a:rPr>
              <a:t>software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ajuste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cambios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en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el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entorno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el</a:t>
            </a:r>
            <a:r>
              <a:rPr sz="1600" spc="5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opera.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error,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sino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necesidad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adaptación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nuevas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condiciones.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4570" y="2822575"/>
            <a:ext cx="4862195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 panose="020B0604020202020204"/>
                <a:cs typeface="Arial" panose="020B0604020202020204"/>
              </a:rPr>
              <a:t>Actualizaciones</a:t>
            </a:r>
            <a:r>
              <a:rPr sz="16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6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Navegadores:</a:t>
            </a:r>
            <a:r>
              <a:rPr sz="16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Si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nuevo </a:t>
            </a:r>
            <a:r>
              <a:rPr sz="1600" dirty="0">
                <a:latin typeface="Arial MT"/>
                <a:cs typeface="Arial MT"/>
              </a:rPr>
              <a:t>estándar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CSS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JavaScript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cambia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en</a:t>
            </a:r>
            <a:r>
              <a:rPr sz="1600" spc="5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navegador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renderiza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algo,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tu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página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necesita </a:t>
            </a:r>
            <a:r>
              <a:rPr sz="1600" dirty="0">
                <a:latin typeface="Arial MT"/>
                <a:cs typeface="Arial MT"/>
              </a:rPr>
              <a:t>ajustarse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para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seguir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viéndose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funcionando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igual.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4570" y="4041775"/>
            <a:ext cx="4917440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 panose="020B0604020202020204"/>
                <a:cs typeface="Arial" panose="020B0604020202020204"/>
              </a:rPr>
              <a:t>Cambios</a:t>
            </a:r>
            <a:r>
              <a:rPr sz="16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en</a:t>
            </a:r>
            <a:r>
              <a:rPr sz="16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servicios</a:t>
            </a:r>
            <a:r>
              <a:rPr sz="16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dirty="0">
                <a:latin typeface="Arial" panose="020B0604020202020204"/>
                <a:cs typeface="Arial" panose="020B0604020202020204"/>
              </a:rPr>
              <a:t>externos:</a:t>
            </a:r>
            <a:r>
              <a:rPr sz="16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600" dirty="0">
                <a:latin typeface="Arial MT"/>
                <a:cs typeface="Arial MT"/>
              </a:rPr>
              <a:t>Si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Font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Awesome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o </a:t>
            </a:r>
            <a:r>
              <a:rPr sz="1600" dirty="0">
                <a:latin typeface="Arial MT"/>
                <a:cs typeface="Arial MT"/>
              </a:rPr>
              <a:t>Google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Fonts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cambian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URLs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que</a:t>
            </a:r>
            <a:r>
              <a:rPr sz="1600" spc="-25" dirty="0">
                <a:latin typeface="Arial MT"/>
                <a:cs typeface="Arial MT"/>
              </a:rPr>
              <a:t> se </a:t>
            </a:r>
            <a:r>
              <a:rPr sz="1600" dirty="0">
                <a:latin typeface="Arial MT"/>
                <a:cs typeface="Arial MT"/>
              </a:rPr>
              <a:t>deben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integrar,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necesitas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actualizar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código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para </a:t>
            </a:r>
            <a:r>
              <a:rPr sz="1600" dirty="0">
                <a:latin typeface="Arial MT"/>
                <a:cs typeface="Arial MT"/>
              </a:rPr>
              <a:t>que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sigan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funcionando.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1" y="761"/>
            <a:ext cx="12190730" cy="6857365"/>
            <a:chOff x="761" y="761"/>
            <a:chExt cx="12190730" cy="6857365"/>
          </a:xfrm>
        </p:grpSpPr>
        <p:sp>
          <p:nvSpPr>
            <p:cNvPr id="12" name="object 12"/>
            <p:cNvSpPr/>
            <p:nvPr/>
          </p:nvSpPr>
          <p:spPr>
            <a:xfrm>
              <a:off x="5934075" y="1086446"/>
              <a:ext cx="42545" cy="5772150"/>
            </a:xfrm>
            <a:custGeom>
              <a:avLst/>
              <a:gdLst/>
              <a:ahLst/>
              <a:cxnLst/>
              <a:rect l="l" t="t" r="r" b="b"/>
              <a:pathLst>
                <a:path w="42545" h="5772150">
                  <a:moveTo>
                    <a:pt x="42545" y="5771514"/>
                  </a:moveTo>
                  <a:lnTo>
                    <a:pt x="29845" y="5771591"/>
                  </a:lnTo>
                  <a:lnTo>
                    <a:pt x="0" y="76"/>
                  </a:lnTo>
                  <a:lnTo>
                    <a:pt x="12700" y="0"/>
                  </a:lnTo>
                  <a:lnTo>
                    <a:pt x="42545" y="57715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423409" y="583565"/>
            <a:ext cx="3366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PLAN</a:t>
            </a:r>
            <a:r>
              <a:rPr sz="240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MANTENIMIENTO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345" y="1497329"/>
            <a:ext cx="2806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 panose="020B0604020202020204"/>
                <a:cs typeface="Arial" panose="020B0604020202020204"/>
              </a:rPr>
              <a:t>Mantenimiento</a:t>
            </a:r>
            <a:r>
              <a:rPr sz="18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Perfectivo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240" y="2237739"/>
            <a:ext cx="49225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 indent="-79375">
              <a:lnSpc>
                <a:spcPct val="100000"/>
              </a:lnSpc>
              <a:spcBef>
                <a:spcPts val="95"/>
              </a:spcBef>
              <a:buSzPct val="94000"/>
              <a:buChar char="•"/>
              <a:tabLst>
                <a:tab pos="83185" algn="l"/>
              </a:tabLst>
            </a:pPr>
            <a:r>
              <a:rPr sz="1600" dirty="0">
                <a:latin typeface="Arial MT"/>
                <a:cs typeface="Arial MT"/>
              </a:rPr>
              <a:t>Copias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Seguridad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(Semanal)</a:t>
            </a:r>
            <a:endParaRPr sz="1600">
              <a:latin typeface="Arial MT"/>
              <a:cs typeface="Arial MT"/>
            </a:endParaRPr>
          </a:p>
          <a:p>
            <a:pPr marL="83820" indent="-82550">
              <a:lnSpc>
                <a:spcPct val="100000"/>
              </a:lnSpc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Respaldo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base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datos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productos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(db.json).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240" y="3121660"/>
            <a:ext cx="505841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indent="-82550">
              <a:lnSpc>
                <a:spcPct val="100000"/>
              </a:lnSpc>
              <a:spcBef>
                <a:spcPts val="95"/>
              </a:spcBef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Meta: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Proteger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pérdida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información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crítica.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240" y="3609339"/>
            <a:ext cx="45948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 indent="-79375">
              <a:lnSpc>
                <a:spcPct val="100000"/>
              </a:lnSpc>
              <a:spcBef>
                <a:spcPts val="95"/>
              </a:spcBef>
              <a:buSzPct val="94000"/>
              <a:buChar char="•"/>
              <a:tabLst>
                <a:tab pos="83185" algn="l"/>
              </a:tabLst>
            </a:pPr>
            <a:r>
              <a:rPr sz="1600" dirty="0">
                <a:latin typeface="Arial MT"/>
                <a:cs typeface="Arial MT"/>
              </a:rPr>
              <a:t>Actualizaciones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Seguridad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(Trimestral)</a:t>
            </a:r>
            <a:endParaRPr sz="1600">
              <a:latin typeface="Arial MT"/>
              <a:cs typeface="Arial MT"/>
            </a:endParaRPr>
          </a:p>
          <a:p>
            <a:pPr marL="83820" indent="-82550">
              <a:lnSpc>
                <a:spcPct val="100000"/>
              </a:lnSpc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Auditoría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librerías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dependencias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(npm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audit).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240" y="4493259"/>
            <a:ext cx="503618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indent="-82550">
              <a:lnSpc>
                <a:spcPct val="100000"/>
              </a:lnSpc>
              <a:spcBef>
                <a:spcPts val="95"/>
              </a:spcBef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Meta: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Cerrar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brechas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seguridad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prevenir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ataques.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9240" y="4980939"/>
            <a:ext cx="34417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 indent="-79375">
              <a:lnSpc>
                <a:spcPct val="100000"/>
              </a:lnSpc>
              <a:spcBef>
                <a:spcPts val="95"/>
              </a:spcBef>
              <a:buSzPct val="94000"/>
              <a:buChar char="•"/>
              <a:tabLst>
                <a:tab pos="83185" algn="l"/>
              </a:tabLst>
            </a:pPr>
            <a:r>
              <a:rPr sz="1600" dirty="0">
                <a:latin typeface="Arial MT"/>
                <a:cs typeface="Arial MT"/>
              </a:rPr>
              <a:t>Monitoreo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Rendimiento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(Mensual)</a:t>
            </a:r>
            <a:endParaRPr sz="1600">
              <a:latin typeface="Arial MT"/>
              <a:cs typeface="Arial MT"/>
            </a:endParaRPr>
          </a:p>
          <a:p>
            <a:pPr marL="83820" indent="-82550">
              <a:lnSpc>
                <a:spcPct val="100000"/>
              </a:lnSpc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Medir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velocidad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carga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sitio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240" y="5864859"/>
            <a:ext cx="48888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1430">
              <a:lnSpc>
                <a:spcPct val="100000"/>
              </a:lnSpc>
              <a:spcBef>
                <a:spcPts val="95"/>
              </a:spcBef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Meta: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Garantizar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experiencia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usuario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rápida</a:t>
            </a:r>
            <a:r>
              <a:rPr sz="1600" spc="-50" dirty="0">
                <a:latin typeface="Arial MT"/>
                <a:cs typeface="Arial MT"/>
              </a:rPr>
              <a:t> y </a:t>
            </a:r>
            <a:r>
              <a:rPr sz="1600" spc="-10" dirty="0">
                <a:latin typeface="Arial MT"/>
                <a:cs typeface="Arial MT"/>
              </a:rPr>
              <a:t>fluida.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60795" y="1464627"/>
            <a:ext cx="4006850" cy="1266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Mantenimiento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Preventivo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83185" indent="-79375">
              <a:lnSpc>
                <a:spcPct val="100000"/>
              </a:lnSpc>
              <a:spcBef>
                <a:spcPts val="1605"/>
              </a:spcBef>
              <a:buSzPct val="94000"/>
              <a:buChar char="•"/>
              <a:tabLst>
                <a:tab pos="83185" algn="l"/>
              </a:tabLst>
            </a:pPr>
            <a:r>
              <a:rPr sz="1600" dirty="0">
                <a:latin typeface="Arial MT"/>
                <a:cs typeface="Arial MT"/>
              </a:rPr>
              <a:t>Optimización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Código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(Anual)</a:t>
            </a:r>
            <a:endParaRPr sz="1600">
              <a:latin typeface="Arial MT"/>
              <a:cs typeface="Arial MT"/>
            </a:endParaRPr>
          </a:p>
          <a:p>
            <a:pPr marL="12700" marR="5080" indent="-11430">
              <a:lnSpc>
                <a:spcPct val="100000"/>
              </a:lnSpc>
              <a:buSzPct val="34000"/>
              <a:buChar char="◦"/>
              <a:tabLst>
                <a:tab pos="83820" algn="l"/>
              </a:tabLst>
            </a:pPr>
            <a:r>
              <a:rPr sz="1600" spc="-10" dirty="0">
                <a:latin typeface="Arial MT"/>
                <a:cs typeface="Arial MT"/>
              </a:rPr>
              <a:t>	</a:t>
            </a:r>
            <a:r>
              <a:rPr sz="1600" spc="-10" dirty="0">
                <a:latin typeface="Arial MT"/>
                <a:cs typeface="Arial MT"/>
              </a:rPr>
              <a:t>Limpiar,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simplificar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reestructurar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código existente.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60795" y="3102610"/>
            <a:ext cx="43338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1430">
              <a:lnSpc>
                <a:spcPct val="100000"/>
              </a:lnSpc>
              <a:spcBef>
                <a:spcPts val="95"/>
              </a:spcBef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Meta: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Facilitar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futuras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actualizaciones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reducir bugs.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0795" y="3834129"/>
            <a:ext cx="4458970" cy="1320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 indent="-79375">
              <a:lnSpc>
                <a:spcPct val="100000"/>
              </a:lnSpc>
              <a:spcBef>
                <a:spcPts val="95"/>
              </a:spcBef>
              <a:buSzPct val="94000"/>
              <a:buChar char="•"/>
              <a:tabLst>
                <a:tab pos="83185" algn="l"/>
              </a:tabLst>
            </a:pPr>
            <a:r>
              <a:rPr sz="1600" dirty="0">
                <a:latin typeface="Arial MT"/>
                <a:cs typeface="Arial MT"/>
              </a:rPr>
              <a:t>Mejoras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Experiencia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(Semestral)</a:t>
            </a:r>
            <a:endParaRPr sz="1600">
              <a:latin typeface="Arial MT"/>
              <a:cs typeface="Arial MT"/>
            </a:endParaRPr>
          </a:p>
          <a:p>
            <a:pPr marL="12700" marR="5080" indent="-11430">
              <a:lnSpc>
                <a:spcPct val="100000"/>
              </a:lnSpc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Modernizar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diseño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hacer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navegación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más </a:t>
            </a:r>
            <a:r>
              <a:rPr sz="1600" spc="-10" dirty="0">
                <a:latin typeface="Arial MT"/>
                <a:cs typeface="Arial MT"/>
              </a:rPr>
              <a:t>intuitiva.</a:t>
            </a:r>
            <a:endParaRPr sz="1600">
              <a:latin typeface="Arial MT"/>
              <a:cs typeface="Arial MT"/>
            </a:endParaRPr>
          </a:p>
          <a:p>
            <a:pPr marL="12700" marR="254000" indent="-11430">
              <a:lnSpc>
                <a:spcPct val="100000"/>
              </a:lnSpc>
              <a:spcBef>
                <a:spcPts val="600"/>
              </a:spcBef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Meta: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Aumentar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satisfacción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retención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de </a:t>
            </a:r>
            <a:r>
              <a:rPr sz="1600" spc="-10" dirty="0">
                <a:latin typeface="Arial MT"/>
                <a:cs typeface="Arial MT"/>
              </a:rPr>
              <a:t>clientes.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0795" y="5373370"/>
            <a:ext cx="4358005" cy="1320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 indent="-79375">
              <a:lnSpc>
                <a:spcPct val="100000"/>
              </a:lnSpc>
              <a:spcBef>
                <a:spcPts val="95"/>
              </a:spcBef>
              <a:buSzPct val="94000"/>
              <a:buChar char="•"/>
              <a:tabLst>
                <a:tab pos="83185" algn="l"/>
              </a:tabLst>
            </a:pPr>
            <a:r>
              <a:rPr sz="1600" dirty="0">
                <a:latin typeface="Arial MT"/>
                <a:cs typeface="Arial MT"/>
              </a:rPr>
              <a:t>Nuevas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Funcionalidades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(Continuo)</a:t>
            </a:r>
            <a:endParaRPr sz="1600">
              <a:latin typeface="Arial MT"/>
              <a:cs typeface="Arial MT"/>
            </a:endParaRPr>
          </a:p>
          <a:p>
            <a:pPr marL="12700" marR="5080" indent="-11430">
              <a:lnSpc>
                <a:spcPct val="100000"/>
              </a:lnSpc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Implementar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mejoras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como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reportes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ventas, </a:t>
            </a:r>
            <a:r>
              <a:rPr sz="1600" dirty="0">
                <a:latin typeface="Arial MT"/>
                <a:cs typeface="Arial MT"/>
              </a:rPr>
              <a:t>filtros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avanzados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pagos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reales.</a:t>
            </a:r>
            <a:endParaRPr sz="1600">
              <a:latin typeface="Arial MT"/>
              <a:cs typeface="Arial MT"/>
            </a:endParaRPr>
          </a:p>
          <a:p>
            <a:pPr marL="12700" marR="344805" indent="-11430">
              <a:lnSpc>
                <a:spcPct val="100000"/>
              </a:lnSpc>
              <a:spcBef>
                <a:spcPts val="600"/>
              </a:spcBef>
              <a:buSzPct val="34000"/>
              <a:buChar char="◦"/>
              <a:tabLst>
                <a:tab pos="83820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Meta: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Añadir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valor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negocio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mantenerse competitivo.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1" y="761"/>
            <a:ext cx="12190730" cy="6857365"/>
            <a:chOff x="761" y="761"/>
            <a:chExt cx="12190730" cy="6857365"/>
          </a:xfrm>
        </p:grpSpPr>
        <p:sp>
          <p:nvSpPr>
            <p:cNvPr id="16" name="object 16"/>
            <p:cNvSpPr/>
            <p:nvPr/>
          </p:nvSpPr>
          <p:spPr>
            <a:xfrm>
              <a:off x="5934075" y="1086446"/>
              <a:ext cx="42545" cy="5772150"/>
            </a:xfrm>
            <a:custGeom>
              <a:avLst/>
              <a:gdLst/>
              <a:ahLst/>
              <a:cxnLst/>
              <a:rect l="l" t="t" r="r" b="b"/>
              <a:pathLst>
                <a:path w="42545" h="5772150">
                  <a:moveTo>
                    <a:pt x="42545" y="5771514"/>
                  </a:moveTo>
                  <a:lnTo>
                    <a:pt x="29845" y="5771591"/>
                  </a:lnTo>
                  <a:lnTo>
                    <a:pt x="0" y="76"/>
                  </a:lnTo>
                  <a:lnTo>
                    <a:pt x="12700" y="0"/>
                  </a:lnTo>
                  <a:lnTo>
                    <a:pt x="42545" y="57715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121275" y="583565"/>
            <a:ext cx="19615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CONCLUSIONES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Una</a:t>
            </a:r>
            <a:r>
              <a:rPr spc="-55" dirty="0"/>
              <a:t> </a:t>
            </a:r>
            <a:r>
              <a:rPr dirty="0"/>
              <a:t>página</a:t>
            </a:r>
            <a:r>
              <a:rPr spc="-5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inventario</a:t>
            </a:r>
            <a:r>
              <a:rPr spc="-5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computadoras,</a:t>
            </a:r>
            <a:r>
              <a:rPr spc="-45" dirty="0"/>
              <a:t> </a:t>
            </a:r>
            <a:r>
              <a:rPr dirty="0"/>
              <a:t>como</a:t>
            </a:r>
            <a:r>
              <a:rPr spc="-55" dirty="0"/>
              <a:t> </a:t>
            </a:r>
            <a:r>
              <a:rPr dirty="0"/>
              <a:t>cualquier</a:t>
            </a:r>
            <a:r>
              <a:rPr spc="-50" dirty="0"/>
              <a:t> </a:t>
            </a:r>
            <a:r>
              <a:rPr dirty="0"/>
              <a:t>sistema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información, </a:t>
            </a:r>
            <a:r>
              <a:rPr dirty="0"/>
              <a:t>se</a:t>
            </a:r>
            <a:r>
              <a:rPr spc="-60" dirty="0"/>
              <a:t> </a:t>
            </a:r>
            <a:r>
              <a:rPr dirty="0"/>
              <a:t>beneficia</a:t>
            </a:r>
            <a:r>
              <a:rPr spc="-60" dirty="0"/>
              <a:t> </a:t>
            </a:r>
            <a:r>
              <a:rPr dirty="0"/>
              <a:t>enormemente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un</a:t>
            </a:r>
            <a:r>
              <a:rPr spc="-60" dirty="0"/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ciclo</a:t>
            </a:r>
            <a:r>
              <a:rPr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continuo</a:t>
            </a:r>
            <a:r>
              <a:rPr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de</a:t>
            </a:r>
            <a:r>
              <a:rPr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investigación</a:t>
            </a:r>
            <a:r>
              <a:rPr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b="1" spc="-50" dirty="0">
                <a:latin typeface="Arial" panose="020B0604020202020204"/>
                <a:cs typeface="Arial" panose="020B0604020202020204"/>
              </a:rPr>
              <a:t>y </a:t>
            </a:r>
            <a:r>
              <a:rPr b="1" dirty="0">
                <a:latin typeface="Arial" panose="020B0604020202020204"/>
                <a:cs typeface="Arial" panose="020B0604020202020204"/>
              </a:rPr>
              <a:t>mantenimiento</a:t>
            </a:r>
            <a:r>
              <a:rPr dirty="0"/>
              <a:t>.</a:t>
            </a:r>
            <a:r>
              <a:rPr spc="-65" dirty="0"/>
              <a:t> </a:t>
            </a:r>
            <a:r>
              <a:rPr dirty="0"/>
              <a:t>La</a:t>
            </a:r>
            <a:r>
              <a:rPr spc="-65" dirty="0"/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investigación</a:t>
            </a:r>
            <a:r>
              <a:rPr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(cuantitativa</a:t>
            </a:r>
            <a:r>
              <a:rPr spc="-70" dirty="0"/>
              <a:t> </a:t>
            </a:r>
            <a:r>
              <a:rPr dirty="0"/>
              <a:t>y</a:t>
            </a:r>
            <a:r>
              <a:rPr spc="-60" dirty="0"/>
              <a:t> </a:t>
            </a:r>
            <a:r>
              <a:rPr dirty="0"/>
              <a:t>cualitativa)</a:t>
            </a:r>
            <a:r>
              <a:rPr spc="-60" dirty="0"/>
              <a:t> </a:t>
            </a:r>
            <a:r>
              <a:rPr dirty="0"/>
              <a:t>dará</a:t>
            </a:r>
            <a:r>
              <a:rPr spc="-70" dirty="0"/>
              <a:t> </a:t>
            </a:r>
            <a:r>
              <a:rPr dirty="0"/>
              <a:t>la</a:t>
            </a:r>
            <a:r>
              <a:rPr spc="-65" dirty="0"/>
              <a:t> </a:t>
            </a:r>
            <a:r>
              <a:rPr spc="-10" dirty="0"/>
              <a:t>visión </a:t>
            </a:r>
            <a:r>
              <a:rPr dirty="0"/>
              <a:t>necesaria</a:t>
            </a:r>
            <a:r>
              <a:rPr spc="-60" dirty="0"/>
              <a:t> </a:t>
            </a:r>
            <a:r>
              <a:rPr dirty="0"/>
              <a:t>para</a:t>
            </a:r>
            <a:r>
              <a:rPr spc="-60" dirty="0"/>
              <a:t> </a:t>
            </a:r>
            <a:r>
              <a:rPr dirty="0"/>
              <a:t>entender</a:t>
            </a:r>
            <a:r>
              <a:rPr spc="-55" dirty="0"/>
              <a:t> </a:t>
            </a:r>
            <a:r>
              <a:rPr dirty="0"/>
              <a:t>las</a:t>
            </a:r>
            <a:r>
              <a:rPr spc="-50" dirty="0"/>
              <a:t> </a:t>
            </a:r>
            <a:r>
              <a:rPr dirty="0"/>
              <a:t>necesidades</a:t>
            </a:r>
            <a:r>
              <a:rPr spc="-55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los</a:t>
            </a:r>
            <a:r>
              <a:rPr spc="-55" dirty="0"/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usuarios</a:t>
            </a:r>
            <a:r>
              <a:rPr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(clientes</a:t>
            </a:r>
            <a:r>
              <a:rPr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b="1" spc="-50" dirty="0">
                <a:latin typeface="Arial" panose="020B0604020202020204"/>
                <a:cs typeface="Arial" panose="020B0604020202020204"/>
              </a:rPr>
              <a:t>y </a:t>
            </a:r>
            <a:r>
              <a:rPr b="1" spc="-10" dirty="0">
                <a:latin typeface="Arial" panose="020B0604020202020204"/>
                <a:cs typeface="Arial" panose="020B0604020202020204"/>
              </a:rPr>
              <a:t>administradores)</a:t>
            </a:r>
            <a:r>
              <a:rPr spc="-10" dirty="0"/>
              <a:t>,</a:t>
            </a:r>
            <a:r>
              <a:rPr spc="-45" dirty="0"/>
              <a:t> </a:t>
            </a:r>
            <a:r>
              <a:rPr dirty="0"/>
              <a:t>revelando</a:t>
            </a:r>
            <a:r>
              <a:rPr spc="-45" dirty="0"/>
              <a:t> </a:t>
            </a:r>
            <a:r>
              <a:rPr dirty="0"/>
              <a:t>fricciones</a:t>
            </a:r>
            <a:r>
              <a:rPr spc="-40" dirty="0"/>
              <a:t> </a:t>
            </a:r>
            <a:r>
              <a:rPr dirty="0"/>
              <a:t>y</a:t>
            </a:r>
            <a:r>
              <a:rPr spc="-45" dirty="0"/>
              <a:t> </a:t>
            </a:r>
            <a:r>
              <a:rPr dirty="0"/>
              <a:t>oportunidades</a:t>
            </a:r>
            <a:r>
              <a:rPr spc="-4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mejora</a:t>
            </a:r>
            <a:r>
              <a:rPr spc="-50" dirty="0"/>
              <a:t> </a:t>
            </a:r>
            <a:r>
              <a:rPr dirty="0"/>
              <a:t>en</a:t>
            </a:r>
            <a:r>
              <a:rPr spc="-45" dirty="0"/>
              <a:t> </a:t>
            </a:r>
            <a:r>
              <a:rPr spc="-25" dirty="0"/>
              <a:t>la </a:t>
            </a:r>
            <a:r>
              <a:rPr dirty="0"/>
              <a:t>navegación,</a:t>
            </a:r>
            <a:r>
              <a:rPr spc="-55" dirty="0"/>
              <a:t> </a:t>
            </a:r>
            <a:r>
              <a:rPr dirty="0"/>
              <a:t>visualización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productos</a:t>
            </a:r>
            <a:r>
              <a:rPr spc="-55" dirty="0"/>
              <a:t> </a:t>
            </a:r>
            <a:r>
              <a:rPr dirty="0"/>
              <a:t>y</a:t>
            </a:r>
            <a:r>
              <a:rPr spc="-50" dirty="0"/>
              <a:t> </a:t>
            </a:r>
            <a:r>
              <a:rPr dirty="0"/>
              <a:t>gestión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stock</a:t>
            </a:r>
            <a:endParaRPr spc="-10" dirty="0"/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PROYECTO</a:t>
            </a:r>
            <a:r>
              <a:rPr spc="-15" dirty="0"/>
              <a:t> </a:t>
            </a:r>
            <a:r>
              <a:rPr spc="-20" dirty="0"/>
              <a:t>FINAL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121275" y="583565"/>
            <a:ext cx="258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RECOMENDACIONES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780" y="1428115"/>
            <a:ext cx="85312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 panose="020B0604020202020204"/>
                <a:cs typeface="Arial" panose="020B0604020202020204"/>
              </a:rPr>
              <a:t>TENER</a:t>
            </a:r>
            <a:r>
              <a:rPr sz="18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UN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ASSITENTE</a:t>
            </a:r>
            <a:r>
              <a:rPr sz="18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CHAT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BOT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QUE</a:t>
            </a:r>
            <a:r>
              <a:rPr sz="18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40" dirty="0">
                <a:latin typeface="Arial" panose="020B0604020202020204"/>
                <a:cs typeface="Arial" panose="020B0604020202020204"/>
              </a:rPr>
              <a:t>AYUDE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AL</a:t>
            </a:r>
            <a:r>
              <a:rPr sz="18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CLIENTE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COMO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DEBE 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PAGAR</a:t>
            </a:r>
            <a:r>
              <a:rPr sz="18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Y</a:t>
            </a:r>
            <a:r>
              <a:rPr sz="18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VER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SI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45" dirty="0">
                <a:latin typeface="Arial" panose="020B0604020202020204"/>
                <a:cs typeface="Arial" panose="020B0604020202020204"/>
              </a:rPr>
              <a:t>ESTA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REGISTRADO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AL</a:t>
            </a:r>
            <a:r>
              <a:rPr sz="18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SISTEMA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 PAGO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O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LA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PAGINA PRINCIPAL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8409</Words>
  <Application>WPS Presentation</Application>
  <PresentationFormat>On-screen Show (4:3)</PresentationFormat>
  <Paragraphs>285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Arial MT</vt:lpstr>
      <vt:lpstr>Verdana</vt:lpstr>
      <vt:lpstr>Arial</vt:lpstr>
      <vt:lpstr>Times New Roman</vt:lpstr>
      <vt:lpstr>Microsoft YaHei</vt:lpstr>
      <vt:lpstr>Arial Unicode MS</vt:lpstr>
      <vt:lpstr>Office Theme</vt:lpstr>
      <vt:lpstr>PowerPoint 演示文稿</vt:lpstr>
      <vt:lpstr>PROYECTO FINAL</vt:lpstr>
      <vt:lpstr>PowerPoint 演示文稿</vt:lpstr>
      <vt:lpstr>PROYECTO FINAL</vt:lpstr>
      <vt:lpstr>PROYECTO FINAL</vt:lpstr>
      <vt:lpstr>PROYECTO FINAL</vt:lpstr>
      <vt:lpstr>PROYECTO FINAL</vt:lpstr>
      <vt:lpstr>PROYECTO FINAL</vt:lpstr>
      <vt:lpstr>PROYECTO FINAL</vt:lpstr>
      <vt:lpstr>PROYECTO FINAL</vt:lpstr>
      <vt:lpstr>PROYECTO FINAL</vt:lpstr>
      <vt:lpstr>PROYECTO FINAL</vt:lpstr>
      <vt:lpstr>PROYECTO FINAL</vt:lpstr>
      <vt:lpstr>PROYECTO FINAL</vt:lpstr>
      <vt:lpstr>PROYECTO FINAL</vt:lpstr>
      <vt:lpstr>PROYECTO FINAL</vt:lpstr>
      <vt:lpstr>PROYECTO FINAL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Erick pro gamers Official</cp:lastModifiedBy>
  <cp:revision>1</cp:revision>
  <dcterms:created xsi:type="dcterms:W3CDTF">2026-02-12T20:20:45Z</dcterms:created>
  <dcterms:modified xsi:type="dcterms:W3CDTF">2026-02-12T20:20:45Z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2025-11-20T20:00:00Z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2026-02-11T20:00:00Z</vt:filetime>
  </property>
  <property fmtid="{D5CDD505-2E9C-101B-9397-08002B2CF9AE}" pid="5" name="SourceModified">
    <vt:lpwstr>D:20251121100831-04'00'</vt:lpwstr>
  </property>
  <property fmtid="{D5CDD505-2E9C-101B-9397-08002B2CF9AE}" pid="6" name="ICV">
    <vt:lpwstr>3DD82626BAD34D5D861F8B8C905AED56_12</vt:lpwstr>
  </property>
  <property fmtid="{D5CDD505-2E9C-101B-9397-08002B2CF9AE}" pid="7" name="KSOProductBuildVer">
    <vt:lpwstr>3082-12.2.0.23196</vt:lpwstr>
  </property>
</Properties>
</file>